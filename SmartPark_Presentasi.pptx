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E3A5F"/>
              </a:gs>
              <a:gs pos="100000">
                <a:srgbClr val="0F254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 rot="900000">
            <a:off x="8686800" y="-1371600"/>
            <a:ext cx="4572000" cy="4572000"/>
          </a:xfrm>
          <a:prstGeom prst="ellipse">
            <a:avLst/>
          </a:prstGeom>
          <a:solidFill>
            <a:srgbClr val="2B4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Segoe UI"/>
              </a:defRPr>
            </a:pPr>
            <a:r>
              <a:t>SMARTPARK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Sistem Manajemen Parkir</a:t>
            </a:r>
            <a:br/>
            <a:r>
              <a:t>Terintegrasi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10896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3832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C4F0"/>
                </a:solidFill>
                <a:latin typeface="Segoe UI"/>
              </a:defRPr>
            </a:pPr>
            <a:r>
              <a:t>Aplikasi berbasis web untuk pengelolaan operasional parkir dengan</a:t>
            </a:r>
            <a:br/>
            <a:r>
              <a:t>fitur AI Chatbot berbasis NVIDIA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029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A0C0"/>
                </a:solidFill>
                <a:latin typeface="Segoe UI"/>
              </a:defRPr>
            </a:pPr>
            <a:r>
              <a:t>Laravel 12  |  React 19  |  Vite  |  Tailwind CSS  |  NVIDIA AI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669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090B0"/>
                </a:solidFill>
                <a:latin typeface="Segoe UI"/>
              </a:defRPr>
            </a:pPr>
            <a:r>
              <a:t>HumamasyariDev  -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01  |  Deskripsi Program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SmartPark adalah sistem informasi manajemen parkir berbasis web yang dikembangkan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menggunakan arsitektur pemisahan frontend dan backend (decoupled architecture).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Backend dibangun dengan Laravel 12 + Sanctum Authentication, sedangkan frontend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menggunakan React 19 + Vite + Tailwind CSS. Terintegrasi dengan AI Chatbot berbasis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NVIDIA API (LLaMA 3.1 &amp; Phi-3.5 Vision) untuk cek biaya &amp; status parkir secara real-time.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84048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840480"/>
            <a:ext cx="1965960" cy="5080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020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Segoe UI"/>
              </a:defRPr>
            </a:pPr>
            <a:r>
              <a:t>Transaksi Parkir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666666"/>
                </a:solidFill>
                <a:latin typeface="Segoe UI"/>
              </a:defRPr>
            </a:pPr>
            <a:r>
              <a:t>Pencatatan masuk/keluar</a:t>
            </a:r>
            <a:br/>
            <a:r>
              <a:t>kendaraan, perhitungan</a:t>
            </a:r>
            <a:br/>
            <a:r>
              <a:t>tarif otomatis per jam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384048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360" y="3840480"/>
            <a:ext cx="196596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395020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Segoe UI"/>
              </a:defRPr>
            </a:pPr>
            <a:r>
              <a:t>Barcode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429768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666666"/>
                </a:solidFill>
                <a:latin typeface="Segoe UI"/>
              </a:defRPr>
            </a:pPr>
            <a:r>
              <a:t>Kode parkir PKR-XXXXXX</a:t>
            </a:r>
            <a:br/>
            <a:r>
              <a:t>dengan barcode, scan</a:t>
            </a:r>
            <a:br/>
            <a:r>
              <a:t>untuk proses keluar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384048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3840480"/>
            <a:ext cx="196596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395020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Segoe UI"/>
              </a:defRPr>
            </a:pPr>
            <a:r>
              <a:t>AI Chatbot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429768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666666"/>
                </a:solidFill>
                <a:latin typeface="Segoe UI"/>
              </a:defRPr>
            </a:pPr>
            <a:r>
              <a:t>Cek biaya &amp; status via</a:t>
            </a:r>
            <a:br/>
            <a:r>
              <a:t>teks, kamera, atau</a:t>
            </a:r>
            <a:br/>
            <a:r>
              <a:t>upload gambar struk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78040" y="384048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78040" y="3840480"/>
            <a:ext cx="196596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20" y="395020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Segoe UI"/>
              </a:defRPr>
            </a:pPr>
            <a:r>
              <a:t>Multi-Role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429768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666666"/>
                </a:solidFill>
                <a:latin typeface="Segoe UI"/>
              </a:defRPr>
            </a:pPr>
            <a:r>
              <a:t>3 role: Admin (full),</a:t>
            </a:r>
            <a:br/>
            <a:r>
              <a:t>Petugas (operasional),</a:t>
            </a:r>
            <a:br/>
            <a:r>
              <a:t>Owner (monitoring)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0" y="384048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26880" y="3840480"/>
            <a:ext cx="196596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395020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Segoe UI"/>
              </a:defRPr>
            </a:pPr>
            <a:r>
              <a:t>Dashboard &amp; Rekap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429768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666666"/>
                </a:solidFill>
                <a:latin typeface="Segoe UI"/>
              </a:defRPr>
            </a:pPr>
            <a:r>
              <a:t>Statistik real-time,</a:t>
            </a:r>
            <a:br/>
            <a:r>
              <a:t>grafik 7 hari, rekap</a:t>
            </a:r>
            <a:br/>
            <a:r>
              <a:t>pendapatan, export 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02  |  Arsitektur Sistem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029200" cy="502920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B6CB3"/>
                </a:solidFill>
                <a:latin typeface="Segoe UI"/>
              </a:defRPr>
            </a:pPr>
            <a:r>
              <a:t>FRONTEND  (React 19 + Vite + Tailwind CSS v4)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Pages (11 halaman):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  Login, Dashboard, Users, TarifParkir,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  AreaParkir, Kendaraan, TransaksiMasuk,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  TransaksiKeluar, TransaksiList, Rekap, LogAktivitas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Components (3):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  Layout.jsx  -  Sidebar + Navbar wrapper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  ChatbotWidget.jsx  -  AI Chatbot (kamera, upload, barcode)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  ConfirmDialog.jsx  -  Modal konfirmasi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State Management: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  AuthContext.jsx  -  Token, user, role checking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  Axios interceptor  -  Auto Bearer token + 401 redirect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188720"/>
            <a:ext cx="5669280" cy="502920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BACKEND  (Laravel 12 + Sanctum + MySQL)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9164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Controllers (8):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  AuthController  -  Login, Logout, Me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  UserController  -  CRUD pengguna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  TarifParkirController  -  CRUD tarif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  AreaParkirController  -  CRUD area parkir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  KendaraanController  -  CRUD kendaraan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  TransaksiController  -  Masuk, Keluar, Struk, Barcode, Rekap, Dashboard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  LogAktivitasController  -  Riwayat aktivitas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  ChatbotController  -  AI Chat + Scan Image (NVIDIA API)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Models (6):  User, Transaksi, Kendaraan, TarifParkir, AreaParkir, LogAktivitas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Middleware:  RoleMiddleware  -  Otorisasi role-based (admin, petugas, owner)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Database:  MySQL (parkir_ukk) - 6 tabel + personal_access_tokens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03  |  Struktur Basis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35204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3520440" cy="5080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0700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Segoe UI"/>
              </a:defRPr>
            </a:pPr>
            <a:r>
              <a:t>tb_user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  <a:latin typeface="Segoe UI"/>
              </a:defRPr>
            </a:pPr>
            <a:r>
              <a:t>id_user  (PK)</a:t>
            </a:r>
            <a:br/>
            <a:r>
              <a:t>nama_lengkap  varchar(50)</a:t>
            </a:r>
            <a:br/>
            <a:r>
              <a:t>username  varchar(50) UNIQUE</a:t>
            </a:r>
            <a:br/>
            <a:r>
              <a:t>password  varchar(100)</a:t>
            </a:r>
            <a:br/>
            <a:r>
              <a:t>role  enum(admin, petugas, owner)</a:t>
            </a:r>
            <a:br/>
            <a:r>
              <a:t>status_aktif  tinyint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097280"/>
            <a:ext cx="35204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40" y="1097280"/>
            <a:ext cx="35204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20700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Segoe UI"/>
              </a:defRPr>
            </a:pPr>
            <a:r>
              <a:t>tb_kendaraan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554480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  <a:latin typeface="Segoe UI"/>
              </a:defRPr>
            </a:pPr>
            <a:r>
              <a:t>id_kendaraan  (PK)</a:t>
            </a:r>
            <a:br/>
            <a:r>
              <a:t>plat_nomor  varchar(15) UNIQUE</a:t>
            </a:r>
            <a:br/>
            <a:r>
              <a:t>jenis_kendaraan  varchar(20)</a:t>
            </a:r>
            <a:br/>
            <a:r>
              <a:t>warna  varchar(20)</a:t>
            </a:r>
            <a:br/>
            <a:r>
              <a:t>pemilik  varchar(100)</a:t>
            </a:r>
            <a:br/>
            <a:r>
              <a:t>id_user  (FK -&gt; tb_user)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1097280"/>
            <a:ext cx="35204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1097280"/>
            <a:ext cx="352044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20700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Segoe UI"/>
              </a:defRPr>
            </a:pPr>
            <a:r>
              <a:t>tb_tarif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1554480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  <a:latin typeface="Segoe UI"/>
              </a:defRPr>
            </a:pPr>
            <a:r>
              <a:t>id_tarif  (PK)</a:t>
            </a:r>
            <a:br/>
            <a:r>
              <a:t>jenis_kendaraan  enum(motor, mobil, lainnya)</a:t>
            </a:r>
            <a:br/>
            <a:r>
              <a:t>tarif_per_jam  decimal(10,0)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566160"/>
            <a:ext cx="35204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566160"/>
            <a:ext cx="35204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67588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Segoe UI"/>
              </a:defRPr>
            </a:pPr>
            <a:r>
              <a:t>tb_area_parkir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23360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  <a:latin typeface="Segoe UI"/>
              </a:defRPr>
            </a:pPr>
            <a:r>
              <a:t>id_area  (PK)</a:t>
            </a:r>
            <a:br/>
            <a:r>
              <a:t>nama_area  varchar(50)</a:t>
            </a:r>
            <a:br/>
            <a:r>
              <a:t>kapasitas  int</a:t>
            </a:r>
            <a:br/>
            <a:r>
              <a:t>terisi  int  (default: 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3566160"/>
            <a:ext cx="35204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0" y="3566160"/>
            <a:ext cx="3520440" cy="5080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367588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Segoe UI"/>
              </a:defRPr>
            </a:pPr>
            <a:r>
              <a:t>tb_transaksi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023360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  <a:latin typeface="Segoe UI"/>
              </a:defRPr>
            </a:pPr>
            <a:r>
              <a:t>id_parkir  (PK)  =  Kode PKR</a:t>
            </a:r>
            <a:br/>
            <a:r>
              <a:t>id_kendaraan  (FK)</a:t>
            </a:r>
            <a:br/>
            <a:r>
              <a:t>waktu_masuk / waktu_keluar  datetime</a:t>
            </a:r>
            <a:br/>
            <a:r>
              <a:t>id_tarif (FK) / id_area (FK) / id_user (FK)</a:t>
            </a:r>
            <a:br/>
            <a:r>
              <a:t>durasi_jam  int / biaya_total  decimal</a:t>
            </a:r>
            <a:br/>
            <a:r>
              <a:t>status  enum(masuk, keluar)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3566160"/>
            <a:ext cx="35204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3566160"/>
            <a:ext cx="352044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367588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Segoe UI"/>
              </a:defRPr>
            </a:pPr>
            <a:r>
              <a:t>tb_log_aktivitas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4023360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66666"/>
                </a:solidFill>
                <a:latin typeface="Segoe UI"/>
              </a:defRPr>
            </a:pPr>
            <a:r>
              <a:t>id_log  (PK)</a:t>
            </a:r>
            <a:br/>
            <a:r>
              <a:t>id_user  (FK -&gt; tb_user)</a:t>
            </a:r>
            <a:br/>
            <a:r>
              <a:t>aktivitas  varchar(100)</a:t>
            </a:r>
            <a:br/>
            <a:r>
              <a:t>waktu_aktivitas  datetime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Relasi:  tb_user -&gt; tb_transaksi (1:N)  |  tb_kendaraan -&gt; tb_transaksi (1:N)  |  tb_tarif -&gt; tb_transaksi (1:N)  |  tb_area_parkir -&gt; tb_transaksi (1:N)  |  tb_user -&gt; tb_log_aktivitas (1:N)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04  |  Hak Akses &amp; Fitur Per Role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34747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B6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3474720" cy="45720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ADMIN (Full Access)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Dashboard  -  Ringkasan statistik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Kelola User  -  CRUD admin/petugas/owner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Tarif Parkir  -  CRUD tarif per jenis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Area Parkir  -  CRUD area + kapasitas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Kelola Kendaraan  -  CRUD data kendaraan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Transaksi Masuk  -  Input kendaraan masuk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Transaksi Keluar  -  Scan barcode + bayar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Daftar Transaksi  -  Riwayat + cetak struk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Rekap Transaksi  -  Grafik + tabel + CSV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Log Aktivitas  -  Riwayat semua aksi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AI Chatbot  -  Cek biaya/status via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097280"/>
            <a:ext cx="34747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51960" y="1097280"/>
            <a:ext cx="347472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1155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PETUGAS (Operasional)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6916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Dashboard  -  Ringkasan statistik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Kelola Kendaraan  -  CRUD data kendaraan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Transaksi Masuk  -  Input kendaraan masuk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Transaksi Keluar  -  Scan barcode + bayar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Daftar Transaksi  -  Riwayat + cetak struk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AI Chatbot  -  Cek biaya/status via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1097280"/>
            <a:ext cx="34747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1097280"/>
            <a:ext cx="347472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11155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OWNER (Monitoring)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16916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Dashboard  -  Ringkasan statistik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Rekap Transaksi  -  Grafik pendapatan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  per hari, tabel transaksi, ringkasan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  per jenis kendaraan, export CSV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Segoe UI"/>
              </a:defRPr>
            </a:pPr>
            <a:r>
              <a:t>AI Chatbot  -  Cek biaya/status via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05  |  Flow Alur Kerja  -  Transaksi Parkir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B6CB3"/>
                </a:solidFill>
                <a:latin typeface="Segoe UI"/>
              </a:defRPr>
            </a:pPr>
            <a:r>
              <a:t>ALUR KENDARAAN MASUK</a:t>
            </a:r>
          </a:p>
        </p:txBody>
      </p:sp>
      <p:sp>
        <p:nvSpPr>
          <p:cNvPr id="6" name="Oval 5"/>
          <p:cNvSpPr/>
          <p:nvPr/>
        </p:nvSpPr>
        <p:spPr>
          <a:xfrm>
            <a:off x="2331720" y="1440180"/>
            <a:ext cx="1188720" cy="411480"/>
          </a:xfrm>
          <a:prstGeom prst="ellipse">
            <a:avLst/>
          </a:prstGeom>
          <a:solidFill>
            <a:srgbClr val="DBEAFE"/>
          </a:solidFill>
          <a:ln w="19050">
            <a:solidFill>
              <a:srgbClr val="2B6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E3A5F"/>
                </a:solidFill>
                <a:latin typeface="Segoe UI"/>
              </a:defRPr>
            </a:pPr>
            <a:r>
              <a:t>Mulai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26080" y="1847088"/>
            <a:ext cx="0" cy="256032"/>
          </a:xfrm>
          <a:prstGeom prst="line">
            <a:avLst/>
          </a:prstGeom>
          <a:ln w="15240">
            <a:solidFill>
              <a:srgbClr val="2B6C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03120" y="2112264"/>
            <a:ext cx="1645920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B6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Segoe UI"/>
              </a:defRPr>
            </a:pPr>
            <a:r>
              <a:t>Petugas Input</a:t>
            </a:r>
            <a:br/>
            <a:r>
              <a:t>Plat Nomor &amp; Jenis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80" y="2551176"/>
            <a:ext cx="0" cy="256032"/>
          </a:xfrm>
          <a:prstGeom prst="line">
            <a:avLst/>
          </a:prstGeom>
          <a:ln w="15240">
            <a:solidFill>
              <a:srgbClr val="2B6C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03120" y="2798064"/>
            <a:ext cx="1645920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B6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Segoe UI"/>
              </a:defRPr>
            </a:pPr>
            <a:r>
              <a:t>Sistem Auto-Create</a:t>
            </a:r>
            <a:br/>
            <a:r>
              <a:t>Kendaraan (firstOrCreate)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26080" y="3236976"/>
            <a:ext cx="0" cy="256032"/>
          </a:xfrm>
          <a:prstGeom prst="line">
            <a:avLst/>
          </a:prstGeom>
          <a:ln w="15240">
            <a:solidFill>
              <a:srgbClr val="2B6C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amond 11"/>
          <p:cNvSpPr/>
          <p:nvPr/>
        </p:nvSpPr>
        <p:spPr>
          <a:xfrm>
            <a:off x="2194560" y="3383280"/>
            <a:ext cx="1463040" cy="640080"/>
          </a:xfrm>
          <a:prstGeom prst="diamond">
            <a:avLst/>
          </a:prstGeom>
          <a:solidFill>
            <a:srgbClr val="FFF7E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>
                <a:solidFill>
                  <a:srgbClr val="333333"/>
                </a:solidFill>
                <a:latin typeface="Segoe UI"/>
              </a:defRPr>
            </a:pPr>
            <a:r>
              <a:t>Area Parkir</a:t>
            </a:r>
            <a:br/>
            <a:r>
              <a:t>Penuh?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540" y="3538728"/>
            <a:ext cx="1234440" cy="329184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>
                <a:solidFill>
                  <a:srgbClr val="333333"/>
                </a:solidFill>
                <a:latin typeface="Segoe UI"/>
              </a:defRPr>
            </a:pPr>
            <a:r>
              <a:t>Tolak!</a:t>
            </a:r>
            <a:br/>
            <a:r>
              <a:t>Area Penuh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0" y="3703320"/>
            <a:ext cx="662940" cy="0"/>
          </a:xfrm>
          <a:prstGeom prst="line">
            <a:avLst/>
          </a:prstGeom>
          <a:ln w="1524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657600" y="35021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F4444"/>
                </a:solidFill>
                <a:latin typeface="Segoe UI"/>
              </a:defRPr>
            </a:pPr>
            <a:r>
              <a:t>Ya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26080" y="4023360"/>
            <a:ext cx="0" cy="256032"/>
          </a:xfrm>
          <a:prstGeom prst="line">
            <a:avLst/>
          </a:prstGeom>
          <a:ln w="15240">
            <a:solidFill>
              <a:srgbClr val="2B6C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017520" y="39319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0B981"/>
                </a:solidFill>
                <a:latin typeface="Segoe UI"/>
              </a:defRPr>
            </a:pPr>
            <a:r>
              <a:t>Tidak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03120" y="4261104"/>
            <a:ext cx="1645920" cy="43891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Segoe UI"/>
              </a:defRPr>
            </a:pPr>
            <a:r>
              <a:t>Simpan Transaksi</a:t>
            </a:r>
            <a:br/>
            <a:r>
              <a:t>Status = 'masuk'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26080" y="4700016"/>
            <a:ext cx="0" cy="256032"/>
          </a:xfrm>
          <a:prstGeom prst="line">
            <a:avLst/>
          </a:prstGeom>
          <a:ln w="15240">
            <a:solidFill>
              <a:srgbClr val="2B6C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103120" y="4946904"/>
            <a:ext cx="1645920" cy="43891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Segoe UI"/>
              </a:defRPr>
            </a:pPr>
            <a:r>
              <a:t>Cetak Kartu Parkir</a:t>
            </a:r>
            <a:br/>
            <a:r>
              <a:t>Barcode PKR-XXXXXX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926080" y="5385816"/>
            <a:ext cx="0" cy="256032"/>
          </a:xfrm>
          <a:prstGeom prst="line">
            <a:avLst/>
          </a:prstGeom>
          <a:ln w="15240">
            <a:solidFill>
              <a:srgbClr val="2B6C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2331720" y="5646420"/>
            <a:ext cx="1188720" cy="411480"/>
          </a:xfrm>
          <a:prstGeom prst="ellipse">
            <a:avLst/>
          </a:prstGeom>
          <a:solidFill>
            <a:srgbClr val="DBEAFE"/>
          </a:solidFill>
          <a:ln w="19050">
            <a:solidFill>
              <a:srgbClr val="2B6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E3A5F"/>
                </a:solidFill>
                <a:latin typeface="Segoe UI"/>
              </a:defRPr>
            </a:pPr>
            <a:r>
              <a:t>Selesai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051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ALUR KENDARAAN KELUAR</a:t>
            </a:r>
          </a:p>
        </p:txBody>
      </p:sp>
      <p:sp>
        <p:nvSpPr>
          <p:cNvPr id="24" name="Oval 23"/>
          <p:cNvSpPr/>
          <p:nvPr/>
        </p:nvSpPr>
        <p:spPr>
          <a:xfrm>
            <a:off x="8092440" y="1440180"/>
            <a:ext cx="1188720" cy="411480"/>
          </a:xfrm>
          <a:prstGeom prst="ellipse">
            <a:avLst/>
          </a:prstGeom>
          <a:solidFill>
            <a:srgbClr val="DBEAFE"/>
          </a:solidFill>
          <a:ln w="19050">
            <a:solidFill>
              <a:srgbClr val="2B6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E3A5F"/>
                </a:solidFill>
                <a:latin typeface="Segoe UI"/>
              </a:defRPr>
            </a:pPr>
            <a:r>
              <a:t>Mulai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686800" y="1851660"/>
            <a:ext cx="0" cy="256032"/>
          </a:xfrm>
          <a:prstGeom prst="line">
            <a:avLst/>
          </a:prstGeom>
          <a:ln w="15240">
            <a:solidFill>
              <a:srgbClr val="2B6C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863840" y="2112264"/>
            <a:ext cx="1645920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B6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Segoe UI"/>
              </a:defRPr>
            </a:pPr>
            <a:r>
              <a:t>Petugas Scan Barcode</a:t>
            </a:r>
            <a:br/>
            <a:r>
              <a:t>atau Input Kode PKR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86800" y="2551176"/>
            <a:ext cx="0" cy="256032"/>
          </a:xfrm>
          <a:prstGeom prst="line">
            <a:avLst/>
          </a:prstGeom>
          <a:ln w="15240">
            <a:solidFill>
              <a:srgbClr val="2B6C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863840" y="2798064"/>
            <a:ext cx="1645920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B6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Segoe UI"/>
              </a:defRPr>
            </a:pPr>
            <a:r>
              <a:t>Sistem Cari Transaksi</a:t>
            </a:r>
            <a:br/>
            <a:r>
              <a:t>(status = 'masuk')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86800" y="3236976"/>
            <a:ext cx="0" cy="256032"/>
          </a:xfrm>
          <a:prstGeom prst="line">
            <a:avLst/>
          </a:prstGeom>
          <a:ln w="15240">
            <a:solidFill>
              <a:srgbClr val="2B6C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726680" y="3438144"/>
            <a:ext cx="1920240" cy="53035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Segoe UI"/>
              </a:defRPr>
            </a:pPr>
            <a:r>
              <a:t>Hitung Biaya</a:t>
            </a:r>
            <a:br/>
            <a:r>
              <a:t>ceil(menit/60) x tarif_per_jam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686800" y="3968496"/>
            <a:ext cx="0" cy="256032"/>
          </a:xfrm>
          <a:prstGeom prst="line">
            <a:avLst/>
          </a:prstGeom>
          <a:ln w="15240">
            <a:solidFill>
              <a:srgbClr val="2B6C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863840" y="4261104"/>
            <a:ext cx="1645920" cy="43891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Segoe UI"/>
              </a:defRPr>
            </a:pPr>
            <a:r>
              <a:t>Proses Pembayaran</a:t>
            </a:r>
            <a:br/>
            <a:r>
              <a:t>+ Update Status 'keluar'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686800" y="4700016"/>
            <a:ext cx="0" cy="256032"/>
          </a:xfrm>
          <a:prstGeom prst="line">
            <a:avLst/>
          </a:prstGeom>
          <a:ln w="15240">
            <a:solidFill>
              <a:srgbClr val="2B6C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863840" y="4946904"/>
            <a:ext cx="1645920" cy="43891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Segoe UI"/>
              </a:defRPr>
            </a:pPr>
            <a:r>
              <a:t>Cetak Struk Parkir</a:t>
            </a:r>
            <a:br/>
            <a:r>
              <a:t>(Detail + Barcode)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686800" y="5385816"/>
            <a:ext cx="0" cy="256032"/>
          </a:xfrm>
          <a:prstGeom prst="line">
            <a:avLst/>
          </a:prstGeom>
          <a:ln w="15240">
            <a:solidFill>
              <a:srgbClr val="2B6C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092440" y="5646420"/>
            <a:ext cx="1188720" cy="411480"/>
          </a:xfrm>
          <a:prstGeom prst="ellipse">
            <a:avLst/>
          </a:prstGeom>
          <a:solidFill>
            <a:srgbClr val="DBEAFE"/>
          </a:solidFill>
          <a:ln w="19050">
            <a:solidFill>
              <a:srgbClr val="2B6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E3A5F"/>
                </a:solidFill>
                <a:latin typeface="Segoe UI"/>
              </a:defRPr>
            </a:pPr>
            <a:r>
              <a:t>Selesai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720" y="1188720"/>
            <a:ext cx="25400" cy="502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06  |  Flow Alur Kerja Per Role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3566160" cy="365760"/>
          </a:xfrm>
          <a:prstGeom prst="rect">
            <a:avLst/>
          </a:prstGeom>
          <a:solidFill>
            <a:srgbClr val="2B6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698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ADMIN</a:t>
            </a:r>
          </a:p>
        </p:txBody>
      </p:sp>
      <p:sp>
        <p:nvSpPr>
          <p:cNvPr id="6" name="Oval 5"/>
          <p:cNvSpPr/>
          <p:nvPr/>
        </p:nvSpPr>
        <p:spPr>
          <a:xfrm>
            <a:off x="1737360" y="1490472"/>
            <a:ext cx="1005840" cy="310896"/>
          </a:xfrm>
          <a:prstGeom prst="ellipse">
            <a:avLst/>
          </a:prstGeom>
          <a:solidFill>
            <a:srgbClr val="DBEAFE"/>
          </a:solidFill>
          <a:ln w="19050">
            <a:solidFill>
              <a:srgbClr val="2B6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E3A5F"/>
                </a:solidFill>
                <a:latin typeface="Segoe UI"/>
              </a:defRPr>
            </a:pPr>
            <a:r>
              <a:t>Login Admin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40280" y="1801368"/>
            <a:ext cx="0" cy="155448"/>
          </a:xfrm>
          <a:prstGeom prst="line">
            <a:avLst/>
          </a:prstGeom>
          <a:ln w="15240">
            <a:solidFill>
              <a:srgbClr val="2B6C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68680" y="1956816"/>
            <a:ext cx="274320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B6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Segoe UI"/>
              </a:defRPr>
            </a:pPr>
            <a:r>
              <a:t>Dashboard Admin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40280" y="2286000"/>
            <a:ext cx="0" cy="155448"/>
          </a:xfrm>
          <a:prstGeom prst="line">
            <a:avLst/>
          </a:prstGeom>
          <a:ln w="15240">
            <a:solidFill>
              <a:srgbClr val="2B6C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iamond 9"/>
          <p:cNvSpPr/>
          <p:nvPr/>
        </p:nvSpPr>
        <p:spPr>
          <a:xfrm>
            <a:off x="1417320" y="2359152"/>
            <a:ext cx="1645920" cy="475488"/>
          </a:xfrm>
          <a:prstGeom prst="diamond">
            <a:avLst/>
          </a:prstGeom>
          <a:solidFill>
            <a:srgbClr val="FFF7ED"/>
          </a:solidFill>
          <a:ln w="12700">
            <a:solidFill>
              <a:srgbClr val="2B6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>
                <a:solidFill>
                  <a:srgbClr val="333333"/>
                </a:solidFill>
                <a:latin typeface="Segoe UI"/>
              </a:defRPr>
            </a:pPr>
            <a:r>
              <a:t>Pilih Menu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40280" y="2834640"/>
            <a:ext cx="0" cy="155448"/>
          </a:xfrm>
          <a:prstGeom prst="line">
            <a:avLst/>
          </a:prstGeom>
          <a:ln w="15240">
            <a:solidFill>
              <a:srgbClr val="2B6C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68680" y="3054096"/>
            <a:ext cx="274320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B6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Segoe UI"/>
              </a:defRPr>
            </a:pPr>
            <a:r>
              <a:t>Kelola User/Tarif/Area/Kendaraan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40280" y="3383280"/>
            <a:ext cx="0" cy="155448"/>
          </a:xfrm>
          <a:prstGeom prst="line">
            <a:avLst/>
          </a:prstGeom>
          <a:ln w="15240">
            <a:solidFill>
              <a:srgbClr val="2B6C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68680" y="3529584"/>
            <a:ext cx="274320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B6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Segoe UI"/>
              </a:defRPr>
            </a:pPr>
            <a:r>
              <a:t>Transaksi Masuk/Keluar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40280" y="3858768"/>
            <a:ext cx="0" cy="155448"/>
          </a:xfrm>
          <a:prstGeom prst="line">
            <a:avLst/>
          </a:prstGeom>
          <a:ln w="15240">
            <a:solidFill>
              <a:srgbClr val="2B6C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68680" y="4005072"/>
            <a:ext cx="274320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B6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Segoe UI"/>
              </a:defRPr>
            </a:pPr>
            <a:r>
              <a:t>Rekap + Log Aktivitas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40280" y="4334256"/>
            <a:ext cx="0" cy="155448"/>
          </a:xfrm>
          <a:prstGeom prst="line">
            <a:avLst/>
          </a:prstGeom>
          <a:ln w="15240">
            <a:solidFill>
              <a:srgbClr val="2B6C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68680" y="4480560"/>
            <a:ext cx="274320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B6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Segoe UI"/>
              </a:defRPr>
            </a:pPr>
            <a:r>
              <a:t>AI Chatbot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240280" y="4809744"/>
            <a:ext cx="0" cy="155448"/>
          </a:xfrm>
          <a:prstGeom prst="line">
            <a:avLst/>
          </a:prstGeom>
          <a:ln w="15240">
            <a:solidFill>
              <a:srgbClr val="2B6C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737360" y="4965192"/>
            <a:ext cx="1005840" cy="310896"/>
          </a:xfrm>
          <a:prstGeom prst="ellipse">
            <a:avLst/>
          </a:prstGeom>
          <a:solidFill>
            <a:srgbClr val="DBEAFE"/>
          </a:solidFill>
          <a:ln w="19050">
            <a:solidFill>
              <a:srgbClr val="2B6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E3A5F"/>
                </a:solidFill>
                <a:latin typeface="Segoe UI"/>
              </a:defRPr>
            </a:pPr>
            <a:r>
              <a:t>Logout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051560"/>
            <a:ext cx="356616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0698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PETUGAS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0" y="1490472"/>
            <a:ext cx="1005840" cy="310896"/>
          </a:xfrm>
          <a:prstGeom prst="ellipse">
            <a:avLst/>
          </a:prstGeom>
          <a:solidFill>
            <a:srgbClr val="DBEAF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E3A5F"/>
                </a:solidFill>
                <a:latin typeface="Segoe UI"/>
              </a:defRPr>
            </a:pPr>
            <a:r>
              <a:t>Login Petugas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89320" y="1801368"/>
            <a:ext cx="0" cy="155448"/>
          </a:xfrm>
          <a:prstGeom prst="line">
            <a:avLst/>
          </a:prstGeom>
          <a:ln w="1524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617720" y="1956816"/>
            <a:ext cx="274320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Segoe UI"/>
              </a:defRPr>
            </a:pPr>
            <a:r>
              <a:t>Dashboard Petugas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989320" y="2286000"/>
            <a:ext cx="0" cy="155448"/>
          </a:xfrm>
          <a:prstGeom prst="line">
            <a:avLst/>
          </a:prstGeom>
          <a:ln w="1524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Diamond 26"/>
          <p:cNvSpPr/>
          <p:nvPr/>
        </p:nvSpPr>
        <p:spPr>
          <a:xfrm>
            <a:off x="5166360" y="2359152"/>
            <a:ext cx="1645920" cy="475488"/>
          </a:xfrm>
          <a:prstGeom prst="diamond">
            <a:avLst/>
          </a:prstGeom>
          <a:solidFill>
            <a:srgbClr val="FFF7ED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>
                <a:solidFill>
                  <a:srgbClr val="333333"/>
                </a:solidFill>
                <a:latin typeface="Segoe UI"/>
              </a:defRPr>
            </a:pPr>
            <a:r>
              <a:t>Pilih Menu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989320" y="2834640"/>
            <a:ext cx="0" cy="155448"/>
          </a:xfrm>
          <a:prstGeom prst="line">
            <a:avLst/>
          </a:prstGeom>
          <a:ln w="1524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617720" y="3054096"/>
            <a:ext cx="274320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Segoe UI"/>
              </a:defRPr>
            </a:pPr>
            <a:r>
              <a:t>Kelola Kendaraan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89320" y="3383280"/>
            <a:ext cx="0" cy="155448"/>
          </a:xfrm>
          <a:prstGeom prst="line">
            <a:avLst/>
          </a:prstGeom>
          <a:ln w="1524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617720" y="3529584"/>
            <a:ext cx="274320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Segoe UI"/>
              </a:defRPr>
            </a:pPr>
            <a:r>
              <a:t>Transaksi Masuk (Input+Barcode)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989320" y="3858768"/>
            <a:ext cx="0" cy="155448"/>
          </a:xfrm>
          <a:prstGeom prst="line">
            <a:avLst/>
          </a:prstGeom>
          <a:ln w="1524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617720" y="4005072"/>
            <a:ext cx="274320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Segoe UI"/>
              </a:defRPr>
            </a:pPr>
            <a:r>
              <a:t>Transaksi Keluar (Scan+Bayar)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989320" y="4334256"/>
            <a:ext cx="0" cy="155448"/>
          </a:xfrm>
          <a:prstGeom prst="line">
            <a:avLst/>
          </a:prstGeom>
          <a:ln w="1524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617720" y="4480560"/>
            <a:ext cx="274320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Segoe UI"/>
              </a:defRPr>
            </a:pPr>
            <a:r>
              <a:t>AI Chatbot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989320" y="4809744"/>
            <a:ext cx="0" cy="155448"/>
          </a:xfrm>
          <a:prstGeom prst="line">
            <a:avLst/>
          </a:prstGeom>
          <a:ln w="1524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5486400" y="4965192"/>
            <a:ext cx="1005840" cy="310896"/>
          </a:xfrm>
          <a:prstGeom prst="ellipse">
            <a:avLst/>
          </a:prstGeom>
          <a:solidFill>
            <a:srgbClr val="DBEAF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E3A5F"/>
                </a:solidFill>
                <a:latin typeface="Segoe UI"/>
              </a:defRPr>
            </a:pPr>
            <a:r>
              <a:t>Logout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79" y="1051560"/>
            <a:ext cx="356616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19" y="10698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OWNER</a:t>
            </a:r>
          </a:p>
        </p:txBody>
      </p:sp>
      <p:sp>
        <p:nvSpPr>
          <p:cNvPr id="40" name="Oval 39"/>
          <p:cNvSpPr/>
          <p:nvPr/>
        </p:nvSpPr>
        <p:spPr>
          <a:xfrm>
            <a:off x="9235439" y="1490472"/>
            <a:ext cx="1005840" cy="310896"/>
          </a:xfrm>
          <a:prstGeom prst="ellipse">
            <a:avLst/>
          </a:prstGeom>
          <a:solidFill>
            <a:srgbClr val="DBEAF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E3A5F"/>
                </a:solidFill>
                <a:latin typeface="Segoe UI"/>
              </a:defRPr>
            </a:pPr>
            <a:r>
              <a:t>Login Owner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738359" y="1801368"/>
            <a:ext cx="0" cy="155448"/>
          </a:xfrm>
          <a:prstGeom prst="line">
            <a:avLst/>
          </a:prstGeom>
          <a:ln w="1524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366759" y="1956816"/>
            <a:ext cx="274320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Segoe UI"/>
              </a:defRPr>
            </a:pPr>
            <a:r>
              <a:t>Dashboard Owner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738359" y="2286000"/>
            <a:ext cx="0" cy="155448"/>
          </a:xfrm>
          <a:prstGeom prst="line">
            <a:avLst/>
          </a:prstGeom>
          <a:ln w="1524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Diamond 43"/>
          <p:cNvSpPr/>
          <p:nvPr/>
        </p:nvSpPr>
        <p:spPr>
          <a:xfrm>
            <a:off x="8915399" y="2359152"/>
            <a:ext cx="1645920" cy="475488"/>
          </a:xfrm>
          <a:prstGeom prst="diamond">
            <a:avLst/>
          </a:prstGeom>
          <a:solidFill>
            <a:srgbClr val="FFF7E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>
                <a:solidFill>
                  <a:srgbClr val="333333"/>
                </a:solidFill>
                <a:latin typeface="Segoe UI"/>
              </a:defRPr>
            </a:pPr>
            <a:r>
              <a:t>Lihat Rekap?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738359" y="2834640"/>
            <a:ext cx="0" cy="155448"/>
          </a:xfrm>
          <a:prstGeom prst="line">
            <a:avLst/>
          </a:prstGeom>
          <a:ln w="1524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8366759" y="3054096"/>
            <a:ext cx="274320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Segoe UI"/>
              </a:defRPr>
            </a:pPr>
            <a:r>
              <a:t>Input Rentang Tanggal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738359" y="3383280"/>
            <a:ext cx="0" cy="155448"/>
          </a:xfrm>
          <a:prstGeom prst="line">
            <a:avLst/>
          </a:prstGeom>
          <a:ln w="1524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8366759" y="3529584"/>
            <a:ext cx="274320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Segoe UI"/>
              </a:defRPr>
            </a:pPr>
            <a:r>
              <a:t>Grafik + Tabel + Export CSV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738359" y="3858768"/>
            <a:ext cx="0" cy="155448"/>
          </a:xfrm>
          <a:prstGeom prst="line">
            <a:avLst/>
          </a:prstGeom>
          <a:ln w="1524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8366759" y="4005072"/>
            <a:ext cx="274320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Segoe UI"/>
              </a:defRPr>
            </a:pPr>
            <a:r>
              <a:t>AI Chatbot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738359" y="4334256"/>
            <a:ext cx="0" cy="155448"/>
          </a:xfrm>
          <a:prstGeom prst="line">
            <a:avLst/>
          </a:prstGeom>
          <a:ln w="1524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9235439" y="4489704"/>
            <a:ext cx="1005840" cy="310896"/>
          </a:xfrm>
          <a:prstGeom prst="ellipse">
            <a:avLst/>
          </a:prstGeom>
          <a:solidFill>
            <a:srgbClr val="DBEAF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E3A5F"/>
                </a:solidFill>
                <a:latin typeface="Segoe UI"/>
              </a:defRPr>
            </a:pPr>
            <a:r>
              <a:t>Logout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07  |  Flow Alur Kerja  -  AI Chatbot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B6CB3"/>
                </a:solidFill>
                <a:latin typeface="Segoe UI"/>
              </a:defRPr>
            </a:pPr>
            <a:r>
              <a:t>ALUR CHAT TEKS</a:t>
            </a:r>
          </a:p>
        </p:txBody>
      </p:sp>
      <p:sp>
        <p:nvSpPr>
          <p:cNvPr id="6" name="Oval 5"/>
          <p:cNvSpPr/>
          <p:nvPr/>
        </p:nvSpPr>
        <p:spPr>
          <a:xfrm>
            <a:off x="2331720" y="1463040"/>
            <a:ext cx="1188720" cy="365760"/>
          </a:xfrm>
          <a:prstGeom prst="ellipse">
            <a:avLst/>
          </a:prstGeom>
          <a:solidFill>
            <a:srgbClr val="DBEAFE"/>
          </a:solidFill>
          <a:ln w="19050">
            <a:solidFill>
              <a:srgbClr val="2B6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E3A5F"/>
                </a:solidFill>
                <a:latin typeface="Segoe UI"/>
              </a:defRPr>
            </a:pPr>
            <a:r>
              <a:t>User Ketik Pesan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26080" y="1828800"/>
            <a:ext cx="0" cy="237744"/>
          </a:xfrm>
          <a:prstGeom prst="line">
            <a:avLst/>
          </a:prstGeom>
          <a:ln w="15240">
            <a:solidFill>
              <a:srgbClr val="2B6C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iamond 7"/>
          <p:cNvSpPr/>
          <p:nvPr/>
        </p:nvSpPr>
        <p:spPr>
          <a:xfrm>
            <a:off x="2011680" y="2007108"/>
            <a:ext cx="1828800" cy="594360"/>
          </a:xfrm>
          <a:prstGeom prst="diamond">
            <a:avLst/>
          </a:prstGeom>
          <a:solidFill>
            <a:srgbClr val="FFF7E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>
                <a:solidFill>
                  <a:srgbClr val="333333"/>
                </a:solidFill>
                <a:latin typeface="Segoe UI"/>
              </a:defRPr>
            </a:pPr>
            <a:r>
              <a:t>Deteksi Plat Nomor</a:t>
            </a:r>
            <a:br/>
            <a:r>
              <a:t>atau Kode PKR?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80" y="2596896"/>
            <a:ext cx="0" cy="237744"/>
          </a:xfrm>
          <a:prstGeom prst="line">
            <a:avLst/>
          </a:prstGeom>
          <a:ln w="15240">
            <a:solidFill>
              <a:srgbClr val="2B6C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71800" y="251460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0B981"/>
                </a:solidFill>
                <a:latin typeface="Segoe UI"/>
              </a:defRPr>
            </a:pPr>
            <a:r>
              <a:t>Ya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2894076"/>
            <a:ext cx="1828800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Segoe UI"/>
              </a:defRPr>
            </a:pPr>
            <a:r>
              <a:t>Query Database</a:t>
            </a:r>
            <a:br/>
            <a:r>
              <a:t>(Kendaraan + Transaksi Real-time)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26080" y="3300984"/>
            <a:ext cx="0" cy="237744"/>
          </a:xfrm>
          <a:prstGeom prst="line">
            <a:avLst/>
          </a:prstGeom>
          <a:ln w="15240">
            <a:solidFill>
              <a:srgbClr val="2B6C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874520" y="3552444"/>
            <a:ext cx="2103120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B6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Segoe UI"/>
              </a:defRPr>
            </a:pPr>
            <a:r>
              <a:t>Bangun System Prompt</a:t>
            </a:r>
            <a:br/>
            <a:r>
              <a:t>(Tarif + Area + Statistik + Data Kendaraan)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26080" y="3959352"/>
            <a:ext cx="0" cy="237744"/>
          </a:xfrm>
          <a:prstGeom prst="line">
            <a:avLst/>
          </a:prstGeom>
          <a:ln w="15240">
            <a:solidFill>
              <a:srgbClr val="2B6C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011680" y="4210812"/>
            <a:ext cx="1828800" cy="4114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Segoe UI"/>
              </a:defRPr>
            </a:pPr>
            <a:r>
              <a:t>Panggil NVIDIA API</a:t>
            </a:r>
            <a:br/>
            <a:r>
              <a:t>(LLaMA 3.1 8B Instruct)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26080" y="4617720"/>
            <a:ext cx="0" cy="237744"/>
          </a:xfrm>
          <a:prstGeom prst="line">
            <a:avLst/>
          </a:prstGeom>
          <a:ln w="15240">
            <a:solidFill>
              <a:srgbClr val="2B6C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920240" y="4855464"/>
            <a:ext cx="2011680" cy="43891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B6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Segoe UI"/>
              </a:defRPr>
            </a:pPr>
            <a:r>
              <a:t>Tampilkan Respon AI</a:t>
            </a:r>
            <a:br/>
            <a:r>
              <a:t>+ Parking Card + Barcode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051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ALUR SCAN GAMBAR</a:t>
            </a:r>
          </a:p>
        </p:txBody>
      </p:sp>
      <p:sp>
        <p:nvSpPr>
          <p:cNvPr id="19" name="Oval 18"/>
          <p:cNvSpPr/>
          <p:nvPr/>
        </p:nvSpPr>
        <p:spPr>
          <a:xfrm>
            <a:off x="8001000" y="1463040"/>
            <a:ext cx="1371600" cy="365760"/>
          </a:xfrm>
          <a:prstGeom prst="ellipse">
            <a:avLst/>
          </a:prstGeom>
          <a:solidFill>
            <a:srgbClr val="DBEAF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E3A5F"/>
                </a:solidFill>
                <a:latin typeface="Segoe UI"/>
              </a:defRPr>
            </a:pPr>
            <a:r>
              <a:t>Kamera / Upload Foto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86800" y="1828800"/>
            <a:ext cx="0" cy="237744"/>
          </a:xfrm>
          <a:prstGeom prst="line">
            <a:avLst/>
          </a:prstGeom>
          <a:ln w="15240">
            <a:solidFill>
              <a:srgbClr val="2B6C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680960" y="2098548"/>
            <a:ext cx="2011680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Segoe UI"/>
              </a:defRPr>
            </a:pPr>
            <a:r>
              <a:t>Kirim Base64 Image</a:t>
            </a:r>
            <a:br/>
            <a:r>
              <a:t>ke /chatbot/scan-image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86800" y="2505456"/>
            <a:ext cx="0" cy="237744"/>
          </a:xfrm>
          <a:prstGeom prst="line">
            <a:avLst/>
          </a:prstGeom>
          <a:ln w="15240">
            <a:solidFill>
              <a:srgbClr val="2B6C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680960" y="2756916"/>
            <a:ext cx="2011680" cy="411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Segoe UI"/>
              </a:defRPr>
            </a:pPr>
            <a:r>
              <a:t>NVIDIA Vision API</a:t>
            </a:r>
            <a:br/>
            <a:r>
              <a:t>(Phi-3.5 Vision) Extract Teks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86800" y="3163824"/>
            <a:ext cx="0" cy="237744"/>
          </a:xfrm>
          <a:prstGeom prst="line">
            <a:avLst/>
          </a:prstGeom>
          <a:ln w="15240">
            <a:solidFill>
              <a:srgbClr val="2B6C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Diamond 24"/>
          <p:cNvSpPr/>
          <p:nvPr/>
        </p:nvSpPr>
        <p:spPr>
          <a:xfrm>
            <a:off x="7772400" y="3323844"/>
            <a:ext cx="1828800" cy="594360"/>
          </a:xfrm>
          <a:prstGeom prst="diamond">
            <a:avLst/>
          </a:prstGeom>
          <a:solidFill>
            <a:srgbClr val="FFF7E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>
                <a:solidFill>
                  <a:srgbClr val="333333"/>
                </a:solidFill>
                <a:latin typeface="Segoe UI"/>
              </a:defRPr>
            </a:pPr>
            <a:r>
              <a:t>Terdeteksi PKR</a:t>
            </a:r>
            <a:br/>
            <a:r>
              <a:t>atau Plat?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86800" y="3913632"/>
            <a:ext cx="0" cy="237744"/>
          </a:xfrm>
          <a:prstGeom prst="line">
            <a:avLst/>
          </a:prstGeom>
          <a:ln w="15240">
            <a:solidFill>
              <a:srgbClr val="2B6C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732520" y="383133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0B981"/>
                </a:solidFill>
                <a:latin typeface="Segoe UI"/>
              </a:defRPr>
            </a:pPr>
            <a:r>
              <a:t>Ya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4210812"/>
            <a:ext cx="1828800" cy="4114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Segoe UI"/>
              </a:defRPr>
            </a:pPr>
            <a:r>
              <a:t>Query DB + NVIDIA AI</a:t>
            </a:r>
            <a:br/>
            <a:r>
              <a:t>Generate Respon Lengkap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86800" y="4617720"/>
            <a:ext cx="0" cy="237744"/>
          </a:xfrm>
          <a:prstGeom prst="line">
            <a:avLst/>
          </a:prstGeom>
          <a:ln w="15240">
            <a:solidFill>
              <a:srgbClr val="2B6C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680960" y="4855464"/>
            <a:ext cx="2011680" cy="43891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B6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Segoe UI"/>
              </a:defRPr>
            </a:pPr>
            <a:r>
              <a:t>Tampilkan Respon AI</a:t>
            </a:r>
            <a:br/>
            <a:r>
              <a:t>+ Parking Card + Barcode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0" y="1188720"/>
            <a:ext cx="25400" cy="502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08  |  Pengujian &amp; Rencana Pengembangan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54864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548640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698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HASIL PENGUJIAN (Black-Box Testing)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Autentikasi &amp; Otorisasi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Segoe UI"/>
              </a:defRPr>
            </a:pPr>
            <a:r>
              <a:t>  Login berhasil membedakan sesi per role (admin/petugas/owner)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Segoe UI"/>
              </a:defRPr>
            </a:pPr>
            <a:r>
              <a:t>  Akun nonaktif ditolak saat login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Transaksi Parkir (Masuk &amp; Keluar)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Segoe UI"/>
              </a:defRPr>
            </a:pPr>
            <a:r>
              <a:t>  Kode PKR auto-generate + barcode, perhitungan biaya akurat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Segoe UI"/>
              </a:defRPr>
            </a:pPr>
            <a:r>
              <a:t>  Area penuh ditolak, duplikasi kendaraan masuk dicegah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AI Chatbot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Segoe UI"/>
              </a:defRPr>
            </a:pPr>
            <a:r>
              <a:t>  Deteksi plat nomor &amp; kode PKR dari teks dan gambar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Segoe UI"/>
              </a:defRPr>
            </a:pPr>
            <a:r>
              <a:t>  Parking Card + barcode ditampilkan dengan benar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Validasi Input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Segoe UI"/>
              </a:defRPr>
            </a:pPr>
            <a:r>
              <a:t>  Username/plat duplikat ditolak, kolom wajib tervalidasi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000" b="1">
                <a:solidFill>
                  <a:srgbClr val="2B6CB3"/>
                </a:solidFill>
                <a:latin typeface="Segoe UI"/>
              </a:defRPr>
            </a:pPr>
            <a:r>
              <a:t>Kesimpulan: LULUS uji fungsional standar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51560"/>
            <a:ext cx="54864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51560"/>
            <a:ext cx="548640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0698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RENCANA PENGEMBANGAN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59E0B"/>
                </a:solidFill>
                <a:latin typeface="Segoe UI"/>
              </a:defRPr>
            </a:pPr>
            <a:r>
              <a:t>1. Real-time Notification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Segoe UI"/>
              </a:defRPr>
            </a:pPr>
            <a:r>
              <a:t>   Notifikasi otomatis via Email/WhatsApp/Push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Segoe UI"/>
              </a:defRPr>
            </a:pPr>
            <a:r>
              <a:t>   saat ada event penting (area penuh, anomali, dll)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000" b="1">
                <a:solidFill>
                  <a:srgbClr val="F59E0B"/>
                </a:solidFill>
                <a:latin typeface="Segoe UI"/>
              </a:defRPr>
            </a:pPr>
            <a:r>
              <a:t>2. Export Laporan PDF/Excel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Segoe UI"/>
              </a:defRPr>
            </a:pPr>
            <a:r>
              <a:t>   Ekspor rekapitulasi ke PDF dan Excel untuk evaluasi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000" b="1">
                <a:solidFill>
                  <a:srgbClr val="F59E0B"/>
                </a:solidFill>
                <a:latin typeface="Segoe UI"/>
              </a:defRPr>
            </a:pPr>
            <a:r>
              <a:t>3. Multi-turn AI Chatbot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Segoe UI"/>
              </a:defRPr>
            </a:pPr>
            <a:r>
              <a:t>   Riwayat percakapan per sesi + model AI lebih advanced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000" b="1">
                <a:solidFill>
                  <a:srgbClr val="F59E0B"/>
                </a:solidFill>
                <a:latin typeface="Segoe UI"/>
              </a:defRPr>
            </a:pPr>
            <a:r>
              <a:t>4. Pembayaran Digital (QRIS)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Segoe UI"/>
              </a:defRPr>
            </a:pPr>
            <a:r>
              <a:t>   Integrasi gateway pembayaran cashless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000" b="1">
                <a:solidFill>
                  <a:srgbClr val="F59E0B"/>
                </a:solidFill>
                <a:latin typeface="Segoe UI"/>
              </a:defRPr>
            </a:pPr>
            <a:r>
              <a:t>5. Deteksi Plat Otomatis (ANPR)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Segoe UI"/>
              </a:defRPr>
            </a:pPr>
            <a:r>
              <a:t>   Kamera CCTV + AI computer vision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000" b="1">
                <a:solidFill>
                  <a:srgbClr val="F59E0B"/>
                </a:solidFill>
                <a:latin typeface="Segoe UI"/>
              </a:defRPr>
            </a:pPr>
            <a:r>
              <a:t>6. PWA / Mobile App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Segoe UI"/>
              </a:defRPr>
            </a:pPr>
            <a:r>
              <a:t>   Progressive Web App atau Android/iOS native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000" b="1">
                <a:solidFill>
                  <a:srgbClr val="F59E0B"/>
                </a:solidFill>
                <a:latin typeface="Segoe UI"/>
              </a:defRPr>
            </a:pPr>
            <a:r>
              <a:t>7. Membership &amp; Langganan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Segoe UI"/>
              </a:defRPr>
            </a:pPr>
            <a:r>
              <a:t>   Tarif khusus harian/mingguan/bulanan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E3A5F"/>
              </a:gs>
              <a:gs pos="100000">
                <a:srgbClr val="0F254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200400"/>
            <a:ext cx="5486400" cy="5486400"/>
          </a:xfrm>
          <a:prstGeom prst="ellipse">
            <a:avLst/>
          </a:prstGeom>
          <a:solidFill>
            <a:srgbClr val="2B4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Terima Kasih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2743200"/>
            <a:ext cx="21031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C4F0"/>
                </a:solidFill>
                <a:latin typeface="Segoe UI"/>
              </a:defRPr>
            </a:pPr>
            <a:r>
              <a:t>SmartPark  -  Sistem Manajemen Parkir Terintegrasi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931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A0C0"/>
                </a:solidFill>
                <a:latin typeface="Segoe UI"/>
              </a:defRPr>
            </a:pPr>
            <a:r>
              <a:t>Laravel 12  |  React 19  |  Vite  |  Tailwind CSS  |  NVIDIA AI API</a:t>
            </a:r>
            <a:br/>
            <a:r>
              <a:t>MySQL  |  Sanctum Authentication  |  Barcode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090B0"/>
                </a:solidFill>
                <a:latin typeface="Segoe UI"/>
              </a:defRPr>
            </a:pPr>
            <a:r>
              <a:t>github.com/HumamasyariDev/humanityalok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080A0"/>
                </a:solidFill>
                <a:latin typeface="Segoe UI"/>
              </a:defRPr>
            </a:pPr>
            <a:r>
              <a:t>HumamasyariDev  -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